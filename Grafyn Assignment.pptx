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7F35040-8FD8-45BF-9751-7CCBBA7C3C67}">
          <p14:sldIdLst>
            <p14:sldId id="256"/>
            <p14:sldId id="257"/>
            <p14:sldId id="258"/>
            <p14:sldId id="259"/>
            <p14:sldId id="261"/>
            <p14:sldId id="262"/>
            <p14:sldId id="263"/>
            <p14:sldId id="264"/>
            <p14:sldId id="265"/>
            <p14:sldId id="266"/>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12/6/2025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12/6/2025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12/6/2025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12/6/2025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12/6/2025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12/6/2025</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12/6/2025</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12/6/2025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12/6/2025</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kaggle.com/datasets/ddosad/auto-sales-data" TargetMode="Externa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B93AAA-74EF-9AF1-E8F1-7976E197BDFC}"/>
              </a:ext>
            </a:extLst>
          </p:cNvPr>
          <p:cNvSpPr>
            <a:spLocks noGrp="1"/>
          </p:cNvSpPr>
          <p:nvPr>
            <p:ph type="ctrTitle"/>
          </p:nvPr>
        </p:nvSpPr>
        <p:spPr>
          <a:xfrm>
            <a:off x="1737852" y="1760920"/>
            <a:ext cx="8991600" cy="1645920"/>
          </a:xfrm>
        </p:spPr>
        <p:txBody>
          <a:bodyPr/>
          <a:lstStyle/>
          <a:p>
            <a:r>
              <a:rPr lang="en-IN" dirty="0"/>
              <a:t>Feature Engineering Using Snowflake</a:t>
            </a:r>
          </a:p>
        </p:txBody>
      </p:sp>
      <p:sp>
        <p:nvSpPr>
          <p:cNvPr id="3" name="Subtitle 2">
            <a:extLst>
              <a:ext uri="{FF2B5EF4-FFF2-40B4-BE49-F238E27FC236}">
                <a16:creationId xmlns:a16="http://schemas.microsoft.com/office/drawing/2014/main" id="{77AA3CED-0F9D-05E8-0203-4DD166B018C1}"/>
              </a:ext>
            </a:extLst>
          </p:cNvPr>
          <p:cNvSpPr>
            <a:spLocks noGrp="1"/>
          </p:cNvSpPr>
          <p:nvPr>
            <p:ph type="subTitle" idx="1"/>
          </p:nvPr>
        </p:nvSpPr>
        <p:spPr>
          <a:xfrm>
            <a:off x="8063607" y="5286608"/>
            <a:ext cx="3567954" cy="435766"/>
          </a:xfrm>
        </p:spPr>
        <p:txBody>
          <a:bodyPr/>
          <a:lstStyle/>
          <a:p>
            <a:r>
              <a:rPr lang="en-IN" dirty="0">
                <a:solidFill>
                  <a:schemeClr val="bg1"/>
                </a:solidFill>
              </a:rPr>
              <a:t>Submitted By- Arushi Mallick</a:t>
            </a:r>
          </a:p>
        </p:txBody>
      </p:sp>
    </p:spTree>
    <p:extLst>
      <p:ext uri="{BB962C8B-B14F-4D97-AF65-F5344CB8AC3E}">
        <p14:creationId xmlns:p14="http://schemas.microsoft.com/office/powerpoint/2010/main" val="1885264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89BC9E65-A827-8A13-6A47-1C24E9D8845F}"/>
              </a:ext>
            </a:extLst>
          </p:cNvPr>
          <p:cNvSpPr>
            <a:spLocks noGrp="1"/>
          </p:cNvSpPr>
          <p:nvPr>
            <p:ph type="title"/>
          </p:nvPr>
        </p:nvSpPr>
        <p:spPr>
          <a:xfrm>
            <a:off x="530156" y="423918"/>
            <a:ext cx="6735884" cy="677295"/>
          </a:xfrm>
        </p:spPr>
        <p:txBody>
          <a:bodyPr>
            <a:normAutofit fontScale="90000"/>
          </a:bodyPr>
          <a:lstStyle/>
          <a:p>
            <a:r>
              <a:rPr lang="en-IN" b="1" dirty="0"/>
              <a:t>What is Feature Engineering?</a:t>
            </a:r>
            <a:endParaRPr lang="en-IN" dirty="0"/>
          </a:p>
        </p:txBody>
      </p:sp>
      <p:sp>
        <p:nvSpPr>
          <p:cNvPr id="8" name="TextBox 7">
            <a:extLst>
              <a:ext uri="{FF2B5EF4-FFF2-40B4-BE49-F238E27FC236}">
                <a16:creationId xmlns:a16="http://schemas.microsoft.com/office/drawing/2014/main" id="{AD423301-04AB-E386-83D9-EDC9C7B2DD23}"/>
              </a:ext>
            </a:extLst>
          </p:cNvPr>
          <p:cNvSpPr txBox="1"/>
          <p:nvPr/>
        </p:nvSpPr>
        <p:spPr>
          <a:xfrm>
            <a:off x="530156" y="1375271"/>
            <a:ext cx="9969910" cy="3332900"/>
          </a:xfrm>
          <a:prstGeom prst="rect">
            <a:avLst/>
          </a:prstGeom>
          <a:noFill/>
        </p:spPr>
        <p:txBody>
          <a:bodyPr wrap="square">
            <a:spAutoFit/>
          </a:bodyPr>
          <a:lstStyle/>
          <a:p>
            <a:pPr marL="285750" indent="-285750">
              <a:lnSpc>
                <a:spcPct val="200000"/>
              </a:lnSpc>
              <a:buFont typeface="Courier New" panose="02070309020205020404" pitchFamily="49" charset="0"/>
              <a:buChar char="o"/>
            </a:pPr>
            <a:r>
              <a:rPr lang="en-US" dirty="0">
                <a:latin typeface="Nunito" pitchFamily="2" charset="0"/>
              </a:rPr>
              <a:t>Feature Engineering is the process of selecting, creating or modifying features like input variables or data to help machine learning models learn patterns more effectively.</a:t>
            </a:r>
          </a:p>
          <a:p>
            <a:pPr marL="285750" indent="-285750">
              <a:lnSpc>
                <a:spcPct val="200000"/>
              </a:lnSpc>
              <a:buFont typeface="Courier New" panose="02070309020205020404" pitchFamily="49" charset="0"/>
              <a:buChar char="o"/>
            </a:pPr>
            <a:r>
              <a:rPr lang="en-US" dirty="0">
                <a:latin typeface="Nunito" pitchFamily="2" charset="0"/>
              </a:rPr>
              <a:t>It involves transforming raw data into meaningful inputs that improve model accuracy and performance.</a:t>
            </a:r>
          </a:p>
          <a:p>
            <a:pPr marL="285750" indent="-285750">
              <a:lnSpc>
                <a:spcPct val="200000"/>
              </a:lnSpc>
              <a:buFont typeface="Courier New" panose="02070309020205020404" pitchFamily="49" charset="0"/>
              <a:buChar char="o"/>
            </a:pPr>
            <a:r>
              <a:rPr lang="en-US" dirty="0">
                <a:latin typeface="Nunito" pitchFamily="2" charset="0"/>
              </a:rPr>
              <a:t>Feature engineering preprocesses raw data into a machine-readable format. </a:t>
            </a:r>
          </a:p>
          <a:p>
            <a:pPr marL="285750" indent="-285750">
              <a:lnSpc>
                <a:spcPct val="200000"/>
              </a:lnSpc>
              <a:buFont typeface="Courier New" panose="02070309020205020404" pitchFamily="49" charset="0"/>
              <a:buChar char="o"/>
            </a:pPr>
            <a:r>
              <a:rPr lang="en-US" dirty="0">
                <a:latin typeface="Nunito" pitchFamily="2" charset="0"/>
              </a:rPr>
              <a:t>It optimizes ML model performance by transforming and selecting relevant features.</a:t>
            </a:r>
            <a:endParaRPr lang="en-IN" dirty="0">
              <a:latin typeface="Nunito" pitchFamily="2" charset="0"/>
            </a:endParaRPr>
          </a:p>
        </p:txBody>
      </p:sp>
    </p:spTree>
    <p:extLst>
      <p:ext uri="{BB962C8B-B14F-4D97-AF65-F5344CB8AC3E}">
        <p14:creationId xmlns:p14="http://schemas.microsoft.com/office/powerpoint/2010/main" val="797503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FA1D59-6F7E-FEB2-F68C-FA6A685044A0}"/>
              </a:ext>
            </a:extLst>
          </p:cNvPr>
          <p:cNvSpPr>
            <a:spLocks noGrp="1"/>
          </p:cNvSpPr>
          <p:nvPr>
            <p:ph type="title"/>
          </p:nvPr>
        </p:nvSpPr>
        <p:spPr>
          <a:xfrm>
            <a:off x="392503" y="433750"/>
            <a:ext cx="8092735" cy="549475"/>
          </a:xfrm>
        </p:spPr>
        <p:txBody>
          <a:bodyPr>
            <a:normAutofit fontScale="90000"/>
          </a:bodyPr>
          <a:lstStyle/>
          <a:p>
            <a:r>
              <a:rPr lang="en-IN" b="1" dirty="0"/>
              <a:t>Importance of Feature Engineering</a:t>
            </a:r>
          </a:p>
        </p:txBody>
      </p:sp>
      <p:sp>
        <p:nvSpPr>
          <p:cNvPr id="4" name="TextBox 3">
            <a:extLst>
              <a:ext uri="{FF2B5EF4-FFF2-40B4-BE49-F238E27FC236}">
                <a16:creationId xmlns:a16="http://schemas.microsoft.com/office/drawing/2014/main" id="{78813C93-6260-4F8B-C9EA-13F60591880D}"/>
              </a:ext>
            </a:extLst>
          </p:cNvPr>
          <p:cNvSpPr txBox="1"/>
          <p:nvPr/>
        </p:nvSpPr>
        <p:spPr>
          <a:xfrm>
            <a:off x="550606" y="1406013"/>
            <a:ext cx="10559845" cy="4478149"/>
          </a:xfrm>
          <a:prstGeom prst="rect">
            <a:avLst/>
          </a:prstGeom>
          <a:noFill/>
        </p:spPr>
        <p:txBody>
          <a:bodyPr wrap="square">
            <a:spAutoFit/>
          </a:bodyPr>
          <a:lstStyle/>
          <a:p>
            <a:pPr marL="285750" indent="-285750" algn="l" fontAlgn="base">
              <a:spcAft>
                <a:spcPts val="1800"/>
              </a:spcAft>
              <a:buFont typeface="Courier New" panose="02070309020205020404" pitchFamily="49" charset="0"/>
              <a:buChar char="o"/>
            </a:pPr>
            <a:r>
              <a:rPr lang="en-US" b="1" i="0" dirty="0">
                <a:effectLst/>
                <a:latin typeface="Nunito" pitchFamily="2" charset="0"/>
              </a:rPr>
              <a:t>Improve accuracy</a:t>
            </a:r>
            <a:r>
              <a:rPr lang="en-US" b="0" i="0" dirty="0">
                <a:effectLst/>
                <a:latin typeface="Nunito" pitchFamily="2" charset="0"/>
              </a:rPr>
              <a:t>: </a:t>
            </a:r>
          </a:p>
          <a:p>
            <a:pPr lvl="1" fontAlgn="base">
              <a:spcAft>
                <a:spcPts val="1800"/>
              </a:spcAft>
            </a:pPr>
            <a:r>
              <a:rPr lang="en-US" b="0" i="0" dirty="0">
                <a:effectLst/>
                <a:latin typeface="Nunito" pitchFamily="2" charset="0"/>
              </a:rPr>
              <a:t>Choosing the right features helps the model learn better, leading to more accurate predictions.</a:t>
            </a:r>
          </a:p>
          <a:p>
            <a:pPr marL="285750" indent="-285750" algn="l" fontAlgn="base">
              <a:spcAft>
                <a:spcPts val="1800"/>
              </a:spcAft>
              <a:buFont typeface="Courier New" panose="02070309020205020404" pitchFamily="49" charset="0"/>
              <a:buChar char="o"/>
            </a:pPr>
            <a:r>
              <a:rPr lang="en-US" b="1" i="0" dirty="0">
                <a:effectLst/>
                <a:latin typeface="Nunito" pitchFamily="2" charset="0"/>
              </a:rPr>
              <a:t>Reduce overfitting</a:t>
            </a:r>
            <a:r>
              <a:rPr lang="en-US" b="0" i="0" dirty="0">
                <a:effectLst/>
                <a:latin typeface="Nunito" pitchFamily="2" charset="0"/>
              </a:rPr>
              <a:t>:</a:t>
            </a:r>
          </a:p>
          <a:p>
            <a:pPr lvl="1" fontAlgn="base">
              <a:spcAft>
                <a:spcPts val="1800"/>
              </a:spcAft>
            </a:pPr>
            <a:r>
              <a:rPr lang="en-US" b="0" i="0" dirty="0">
                <a:effectLst/>
                <a:latin typeface="Nunito" pitchFamily="2" charset="0"/>
              </a:rPr>
              <a:t>Using fewer, more important features helps the model avoid memorizing the data and perform better on new data.</a:t>
            </a:r>
          </a:p>
          <a:p>
            <a:pPr marL="285750" indent="-285750" algn="l" fontAlgn="base">
              <a:spcAft>
                <a:spcPts val="1800"/>
              </a:spcAft>
              <a:buFont typeface="Courier New" panose="02070309020205020404" pitchFamily="49" charset="0"/>
              <a:buChar char="o"/>
            </a:pPr>
            <a:r>
              <a:rPr lang="en-US" b="1" i="0" dirty="0">
                <a:effectLst/>
                <a:latin typeface="Nunito" pitchFamily="2" charset="0"/>
              </a:rPr>
              <a:t>Boost interpretability</a:t>
            </a:r>
            <a:r>
              <a:rPr lang="en-US" b="0" i="0" dirty="0">
                <a:effectLst/>
                <a:latin typeface="Nunito" pitchFamily="2" charset="0"/>
              </a:rPr>
              <a:t>: </a:t>
            </a:r>
          </a:p>
          <a:p>
            <a:pPr lvl="1" fontAlgn="base">
              <a:spcAft>
                <a:spcPts val="1800"/>
              </a:spcAft>
            </a:pPr>
            <a:r>
              <a:rPr lang="en-US" b="0" i="0" dirty="0">
                <a:effectLst/>
                <a:latin typeface="Nunito" pitchFamily="2" charset="0"/>
              </a:rPr>
              <a:t>Well-chosen features make it easier to understand how the model makes its predictions.</a:t>
            </a:r>
          </a:p>
          <a:p>
            <a:pPr marL="285750" indent="-285750" algn="l" fontAlgn="base">
              <a:spcAft>
                <a:spcPts val="1800"/>
              </a:spcAft>
              <a:buFont typeface="Courier New" panose="02070309020205020404" pitchFamily="49" charset="0"/>
              <a:buChar char="o"/>
            </a:pPr>
            <a:r>
              <a:rPr lang="en-US" b="1" i="0" dirty="0">
                <a:effectLst/>
                <a:latin typeface="Nunito" pitchFamily="2" charset="0"/>
              </a:rPr>
              <a:t>Enhance efficiency</a:t>
            </a:r>
            <a:r>
              <a:rPr lang="en-US" b="0" i="0" dirty="0">
                <a:effectLst/>
                <a:latin typeface="Nunito" pitchFamily="2" charset="0"/>
              </a:rPr>
              <a:t>: </a:t>
            </a:r>
          </a:p>
          <a:p>
            <a:pPr lvl="1" fontAlgn="base">
              <a:spcAft>
                <a:spcPts val="1800"/>
              </a:spcAft>
            </a:pPr>
            <a:r>
              <a:rPr lang="en-US" b="0" i="0" dirty="0">
                <a:effectLst/>
                <a:latin typeface="Nunito" pitchFamily="2" charset="0"/>
              </a:rPr>
              <a:t>Focusing on key features speeds up the model’s training and prediction process, saving time and resources.</a:t>
            </a:r>
          </a:p>
        </p:txBody>
      </p:sp>
    </p:spTree>
    <p:extLst>
      <p:ext uri="{BB962C8B-B14F-4D97-AF65-F5344CB8AC3E}">
        <p14:creationId xmlns:p14="http://schemas.microsoft.com/office/powerpoint/2010/main" val="5906392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57512-BD2E-C532-B82F-19DA249B545F}"/>
              </a:ext>
            </a:extLst>
          </p:cNvPr>
          <p:cNvSpPr>
            <a:spLocks noGrp="1"/>
          </p:cNvSpPr>
          <p:nvPr>
            <p:ph type="title"/>
          </p:nvPr>
        </p:nvSpPr>
        <p:spPr>
          <a:xfrm>
            <a:off x="471162" y="342803"/>
            <a:ext cx="8053406" cy="598635"/>
          </a:xfrm>
        </p:spPr>
        <p:txBody>
          <a:bodyPr>
            <a:normAutofit fontScale="90000"/>
          </a:bodyPr>
          <a:lstStyle/>
          <a:p>
            <a:r>
              <a:rPr lang="en-IN" b="1" dirty="0">
                <a:solidFill>
                  <a:schemeClr val="tx1"/>
                </a:solidFill>
              </a:rPr>
              <a:t>Feature Engineering techniques</a:t>
            </a:r>
          </a:p>
        </p:txBody>
      </p:sp>
      <p:sp>
        <p:nvSpPr>
          <p:cNvPr id="5" name="TextBox 4">
            <a:extLst>
              <a:ext uri="{FF2B5EF4-FFF2-40B4-BE49-F238E27FC236}">
                <a16:creationId xmlns:a16="http://schemas.microsoft.com/office/drawing/2014/main" id="{F7152C5C-D838-FFD5-F2AC-17C85CBC4975}"/>
              </a:ext>
            </a:extLst>
          </p:cNvPr>
          <p:cNvSpPr txBox="1"/>
          <p:nvPr/>
        </p:nvSpPr>
        <p:spPr>
          <a:xfrm>
            <a:off x="462116" y="1216095"/>
            <a:ext cx="11267767" cy="5009064"/>
          </a:xfrm>
          <a:prstGeom prst="rect">
            <a:avLst/>
          </a:prstGeom>
          <a:noFill/>
        </p:spPr>
        <p:txBody>
          <a:bodyPr wrap="square">
            <a:spAutoFit/>
          </a:bodyPr>
          <a:lstStyle/>
          <a:p>
            <a:pPr marL="285750" indent="-285750">
              <a:lnSpc>
                <a:spcPct val="200000"/>
              </a:lnSpc>
              <a:buFont typeface="Courier New" panose="02070309020205020404" pitchFamily="49" charset="0"/>
              <a:buChar char="o"/>
            </a:pPr>
            <a:r>
              <a:rPr lang="en-IN" b="1" i="0" dirty="0">
                <a:effectLst/>
                <a:latin typeface="Nunito" pitchFamily="2" charset="0"/>
              </a:rPr>
              <a:t>Feature Creation: </a:t>
            </a:r>
            <a:r>
              <a:rPr lang="en-US" dirty="0">
                <a:latin typeface="Nunito" pitchFamily="2" charset="0"/>
              </a:rPr>
              <a:t>It involves generating new features from existing data to highlight hidden patterns.</a:t>
            </a:r>
            <a:endParaRPr lang="en-IN" b="1" i="0" dirty="0">
              <a:effectLst/>
              <a:latin typeface="Nunito" pitchFamily="2" charset="0"/>
            </a:endParaRPr>
          </a:p>
          <a:p>
            <a:pPr marL="285750" indent="-285750">
              <a:lnSpc>
                <a:spcPct val="200000"/>
              </a:lnSpc>
              <a:buFont typeface="Courier New" panose="02070309020205020404" pitchFamily="49" charset="0"/>
              <a:buChar char="o"/>
            </a:pPr>
            <a:r>
              <a:rPr lang="en-IN" b="1" dirty="0">
                <a:latin typeface="Nunito" pitchFamily="2" charset="0"/>
              </a:rPr>
              <a:t>Feature Transformation:  </a:t>
            </a:r>
            <a:r>
              <a:rPr lang="en-US" dirty="0">
                <a:latin typeface="Nunito" pitchFamily="2" charset="0"/>
              </a:rPr>
              <a:t>It applies mathematical modifications to features to improve model performance or reduce skew. Examples include encoding log transformation, normalization, and binning.</a:t>
            </a:r>
            <a:endParaRPr lang="en-IN" b="1" dirty="0">
              <a:latin typeface="Nunito" pitchFamily="2" charset="0"/>
            </a:endParaRPr>
          </a:p>
          <a:p>
            <a:pPr marL="285750" indent="-285750">
              <a:lnSpc>
                <a:spcPct val="200000"/>
              </a:lnSpc>
              <a:buFont typeface="Courier New" panose="02070309020205020404" pitchFamily="49" charset="0"/>
              <a:buChar char="o"/>
            </a:pPr>
            <a:r>
              <a:rPr lang="en-IN" b="1" dirty="0">
                <a:latin typeface="Nunito" pitchFamily="2" charset="0"/>
              </a:rPr>
              <a:t>Feature Extraction: </a:t>
            </a:r>
            <a:r>
              <a:rPr lang="en-US" dirty="0">
                <a:latin typeface="Nunito" pitchFamily="2" charset="0"/>
              </a:rPr>
              <a:t>It reduces data dimensionality by converting raw data into a smaller set of informative features. Techniques include PCA for numerical data and embeddings for text/images.</a:t>
            </a:r>
            <a:endParaRPr lang="en-IN" b="1" dirty="0">
              <a:latin typeface="Nunito" pitchFamily="2" charset="0"/>
            </a:endParaRPr>
          </a:p>
          <a:p>
            <a:pPr marL="285750" indent="-285750">
              <a:lnSpc>
                <a:spcPct val="200000"/>
              </a:lnSpc>
              <a:buFont typeface="Courier New" panose="02070309020205020404" pitchFamily="49" charset="0"/>
              <a:buChar char="o"/>
            </a:pPr>
            <a:r>
              <a:rPr lang="en-IN" b="1" dirty="0">
                <a:latin typeface="Nunito" pitchFamily="2" charset="0"/>
              </a:rPr>
              <a:t>Feature Selection: </a:t>
            </a:r>
            <a:r>
              <a:rPr lang="en-IN" dirty="0">
                <a:latin typeface="Nunito" pitchFamily="2" charset="0"/>
              </a:rPr>
              <a:t>It</a:t>
            </a:r>
            <a:r>
              <a:rPr lang="en-IN" b="1" dirty="0">
                <a:latin typeface="Nunito" pitchFamily="2" charset="0"/>
              </a:rPr>
              <a:t> </a:t>
            </a:r>
            <a:r>
              <a:rPr lang="en-US" dirty="0">
                <a:latin typeface="Nunito" pitchFamily="2" charset="0"/>
              </a:rPr>
              <a:t>chooses the most relevant features and removes irrelevant or redundant ones. It improves model accuracy, reduces overfitting, and speeds up training. </a:t>
            </a:r>
          </a:p>
          <a:p>
            <a:pPr marL="285750" indent="-285750">
              <a:lnSpc>
                <a:spcPct val="200000"/>
              </a:lnSpc>
              <a:buFont typeface="Courier New" panose="02070309020205020404" pitchFamily="49" charset="0"/>
              <a:buChar char="o"/>
            </a:pPr>
            <a:r>
              <a:rPr lang="en-IN" b="1" dirty="0">
                <a:latin typeface="Nunito" pitchFamily="2" charset="0"/>
              </a:rPr>
              <a:t>Feature Scaling: </a:t>
            </a:r>
            <a:r>
              <a:rPr lang="en-US" dirty="0">
                <a:latin typeface="Nunito" pitchFamily="2" charset="0"/>
              </a:rPr>
              <a:t>It standardizes the range of independent variables so no feature dominates others. Common methods include Min-Max scaling and Standardization.</a:t>
            </a:r>
            <a:endParaRPr lang="en-IN" dirty="0">
              <a:latin typeface="Nunito" pitchFamily="2" charset="0"/>
            </a:endParaRPr>
          </a:p>
        </p:txBody>
      </p:sp>
    </p:spTree>
    <p:extLst>
      <p:ext uri="{BB962C8B-B14F-4D97-AF65-F5344CB8AC3E}">
        <p14:creationId xmlns:p14="http://schemas.microsoft.com/office/powerpoint/2010/main" val="25378397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FE1A7-409D-3FEE-6AB3-4611B46A42F1}"/>
              </a:ext>
            </a:extLst>
          </p:cNvPr>
          <p:cNvSpPr>
            <a:spLocks noGrp="1"/>
          </p:cNvSpPr>
          <p:nvPr>
            <p:ph type="title"/>
          </p:nvPr>
        </p:nvSpPr>
        <p:spPr>
          <a:xfrm>
            <a:off x="422000" y="318361"/>
            <a:ext cx="4907083" cy="529811"/>
          </a:xfrm>
        </p:spPr>
        <p:txBody>
          <a:bodyPr>
            <a:normAutofit fontScale="90000"/>
          </a:bodyPr>
          <a:lstStyle/>
          <a:p>
            <a:r>
              <a:rPr lang="en-IN" b="1" dirty="0"/>
              <a:t>Feature Creation</a:t>
            </a:r>
          </a:p>
        </p:txBody>
      </p:sp>
      <p:sp>
        <p:nvSpPr>
          <p:cNvPr id="4" name="TextBox 3">
            <a:extLst>
              <a:ext uri="{FF2B5EF4-FFF2-40B4-BE49-F238E27FC236}">
                <a16:creationId xmlns:a16="http://schemas.microsoft.com/office/drawing/2014/main" id="{4785630E-E829-E2F1-1FC0-4815212ECEEF}"/>
              </a:ext>
            </a:extLst>
          </p:cNvPr>
          <p:cNvSpPr txBox="1"/>
          <p:nvPr/>
        </p:nvSpPr>
        <p:spPr>
          <a:xfrm>
            <a:off x="580104" y="1179872"/>
            <a:ext cx="10255044" cy="2966197"/>
          </a:xfrm>
          <a:prstGeom prst="rect">
            <a:avLst/>
          </a:prstGeom>
          <a:noFill/>
        </p:spPr>
        <p:txBody>
          <a:bodyPr wrap="square">
            <a:spAutoFit/>
          </a:bodyPr>
          <a:lstStyle/>
          <a:p>
            <a:pPr>
              <a:lnSpc>
                <a:spcPct val="150000"/>
              </a:lnSpc>
            </a:pPr>
            <a:r>
              <a:rPr lang="en-US" dirty="0">
                <a:latin typeface="Nunito" pitchFamily="2" charset="0"/>
              </a:rPr>
              <a:t>Feature Creation is the process of generating new, meaningful features from the existing raw data to help machine learning models learn patterns more effectively.</a:t>
            </a:r>
          </a:p>
          <a:p>
            <a:pPr>
              <a:lnSpc>
                <a:spcPct val="150000"/>
              </a:lnSpc>
            </a:pPr>
            <a:r>
              <a:rPr lang="en-US" dirty="0">
                <a:latin typeface="Nunito" pitchFamily="2" charset="0"/>
              </a:rPr>
              <a:t>Types of Feature Creation:</a:t>
            </a:r>
          </a:p>
          <a:p>
            <a:pPr marL="285750" indent="-285750">
              <a:lnSpc>
                <a:spcPct val="150000"/>
              </a:lnSpc>
              <a:buFont typeface="Courier New" panose="02070309020205020404" pitchFamily="49" charset="0"/>
              <a:buChar char="o"/>
            </a:pPr>
            <a:r>
              <a:rPr lang="en-US" b="1" dirty="0">
                <a:latin typeface="Nunito" pitchFamily="2" charset="0"/>
              </a:rPr>
              <a:t>Mathematical Combinations: </a:t>
            </a:r>
            <a:r>
              <a:rPr lang="en-US" dirty="0">
                <a:latin typeface="Nunito" pitchFamily="2" charset="0"/>
              </a:rPr>
              <a:t>Creating new features using arithmetic operations.</a:t>
            </a:r>
          </a:p>
          <a:p>
            <a:pPr marL="285750" indent="-285750">
              <a:lnSpc>
                <a:spcPct val="150000"/>
              </a:lnSpc>
              <a:buFont typeface="Courier New" panose="02070309020205020404" pitchFamily="49" charset="0"/>
              <a:buChar char="o"/>
            </a:pPr>
            <a:r>
              <a:rPr lang="en-IN" b="1" dirty="0">
                <a:latin typeface="Nunito" pitchFamily="2" charset="0"/>
              </a:rPr>
              <a:t>Data &amp; Time-driven: </a:t>
            </a:r>
            <a:r>
              <a:rPr lang="en-US" dirty="0">
                <a:latin typeface="Nunito" pitchFamily="2" charset="0"/>
              </a:rPr>
              <a:t>Extracting date and time components to improve forecasting or classification.</a:t>
            </a:r>
          </a:p>
          <a:p>
            <a:pPr marL="285750" indent="-285750">
              <a:lnSpc>
                <a:spcPct val="150000"/>
              </a:lnSpc>
              <a:buFont typeface="Courier New" panose="02070309020205020404" pitchFamily="49" charset="0"/>
              <a:buChar char="o"/>
            </a:pPr>
            <a:r>
              <a:rPr lang="en-IN" b="1" dirty="0">
                <a:latin typeface="Nunito" pitchFamily="2" charset="0"/>
              </a:rPr>
              <a:t>Domain-Specific Feature Creation: </a:t>
            </a:r>
            <a:r>
              <a:rPr lang="en-US" dirty="0">
                <a:latin typeface="Nunito" pitchFamily="2" charset="0"/>
              </a:rPr>
              <a:t>Using expert knowledge to create meaningful variables.</a:t>
            </a:r>
            <a:endParaRPr lang="en-IN" b="1" dirty="0">
              <a:latin typeface="Nunito" pitchFamily="2" charset="0"/>
            </a:endParaRPr>
          </a:p>
        </p:txBody>
      </p:sp>
    </p:spTree>
    <p:extLst>
      <p:ext uri="{BB962C8B-B14F-4D97-AF65-F5344CB8AC3E}">
        <p14:creationId xmlns:p14="http://schemas.microsoft.com/office/powerpoint/2010/main" val="6456197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0B914-9D6D-F286-3DCC-A17712E6C7B8}"/>
              </a:ext>
            </a:extLst>
          </p:cNvPr>
          <p:cNvSpPr>
            <a:spLocks noGrp="1"/>
          </p:cNvSpPr>
          <p:nvPr>
            <p:ph type="title"/>
          </p:nvPr>
        </p:nvSpPr>
        <p:spPr>
          <a:xfrm>
            <a:off x="412170" y="325595"/>
            <a:ext cx="5890308" cy="696960"/>
          </a:xfrm>
        </p:spPr>
        <p:txBody>
          <a:bodyPr>
            <a:normAutofit fontScale="90000"/>
          </a:bodyPr>
          <a:lstStyle/>
          <a:p>
            <a:r>
              <a:rPr lang="en-IN" b="1" dirty="0"/>
              <a:t>Feature Transformation</a:t>
            </a:r>
          </a:p>
        </p:txBody>
      </p:sp>
      <p:sp>
        <p:nvSpPr>
          <p:cNvPr id="4" name="TextBox 3">
            <a:extLst>
              <a:ext uri="{FF2B5EF4-FFF2-40B4-BE49-F238E27FC236}">
                <a16:creationId xmlns:a16="http://schemas.microsoft.com/office/drawing/2014/main" id="{0AC539D6-950E-7B85-4173-50D7C0712BF2}"/>
              </a:ext>
            </a:extLst>
          </p:cNvPr>
          <p:cNvSpPr txBox="1"/>
          <p:nvPr/>
        </p:nvSpPr>
        <p:spPr>
          <a:xfrm>
            <a:off x="282677" y="1188459"/>
            <a:ext cx="11626646" cy="5459187"/>
          </a:xfrm>
          <a:prstGeom prst="rect">
            <a:avLst/>
          </a:prstGeom>
          <a:noFill/>
        </p:spPr>
        <p:txBody>
          <a:bodyPr wrap="square">
            <a:spAutoFit/>
          </a:bodyPr>
          <a:lstStyle/>
          <a:p>
            <a:pPr>
              <a:lnSpc>
                <a:spcPct val="150000"/>
              </a:lnSpc>
              <a:buNone/>
            </a:pPr>
            <a:r>
              <a:rPr lang="en-US" dirty="0">
                <a:latin typeface="Nunito" pitchFamily="2" charset="0"/>
              </a:rPr>
              <a:t>Feature Transformation is the process of modifying or converting existing features into a format that helps a machine learning model learn patterns more </a:t>
            </a:r>
            <a:r>
              <a:rPr lang="en-US" dirty="0" err="1">
                <a:latin typeface="Nunito" pitchFamily="2" charset="0"/>
              </a:rPr>
              <a:t>effectively.Transformations</a:t>
            </a:r>
            <a:r>
              <a:rPr lang="en-US" dirty="0">
                <a:latin typeface="Nunito" pitchFamily="2" charset="0"/>
              </a:rPr>
              <a:t> improve data quality, reduce skewness, make features comparable, and help algorithms converge faster.</a:t>
            </a:r>
          </a:p>
          <a:p>
            <a:pPr marL="285750" indent="-285750">
              <a:lnSpc>
                <a:spcPct val="150000"/>
              </a:lnSpc>
              <a:buFont typeface="Courier New" panose="02070309020205020404" pitchFamily="49" charset="0"/>
              <a:buChar char="o"/>
            </a:pPr>
            <a:r>
              <a:rPr lang="en-US" b="1" dirty="0">
                <a:latin typeface="Nunito" pitchFamily="2" charset="0"/>
              </a:rPr>
              <a:t>Normalization &amp; Scaling: </a:t>
            </a:r>
            <a:r>
              <a:rPr lang="en-US" dirty="0">
                <a:latin typeface="Nunito" pitchFamily="2" charset="0"/>
              </a:rPr>
              <a:t>Normalization scales each data sample such that its vector length is 1. </a:t>
            </a:r>
          </a:p>
          <a:p>
            <a:pPr marL="285750" indent="-285750">
              <a:lnSpc>
                <a:spcPct val="150000"/>
              </a:lnSpc>
              <a:buFont typeface="Courier New" panose="02070309020205020404" pitchFamily="49" charset="0"/>
              <a:buChar char="o"/>
            </a:pPr>
            <a:r>
              <a:rPr lang="en-IN" b="1" dirty="0">
                <a:latin typeface="Nunito" pitchFamily="2" charset="0"/>
              </a:rPr>
              <a:t>Standardization: </a:t>
            </a:r>
            <a:r>
              <a:rPr lang="en-US" dirty="0">
                <a:latin typeface="Nunito" pitchFamily="2" charset="0"/>
              </a:rPr>
              <a:t>Standardization centers features by subtracting the mean and scales them by dividing by the standard deviation, transforming features to have zero mean and unit variance.</a:t>
            </a:r>
          </a:p>
          <a:p>
            <a:pPr marL="285750" indent="-285750">
              <a:lnSpc>
                <a:spcPct val="150000"/>
              </a:lnSpc>
              <a:buFont typeface="Courier New" panose="02070309020205020404" pitchFamily="49" charset="0"/>
              <a:buChar char="o"/>
            </a:pPr>
            <a:r>
              <a:rPr lang="en-IN" b="1" dirty="0">
                <a:latin typeface="Nunito" pitchFamily="2" charset="0"/>
              </a:rPr>
              <a:t>Encoding: </a:t>
            </a:r>
            <a:r>
              <a:rPr lang="en-US" dirty="0">
                <a:latin typeface="Nunito" pitchFamily="2" charset="0"/>
              </a:rPr>
              <a:t>Encoding transforms non-numerical categorical data into numerical forms so ML models can understand them. Types of encoding:</a:t>
            </a:r>
          </a:p>
          <a:p>
            <a:pPr marL="1200150" lvl="2" indent="-285750">
              <a:lnSpc>
                <a:spcPct val="150000"/>
              </a:lnSpc>
              <a:buFont typeface="Arial" panose="020B0604020202020204" pitchFamily="34" charset="0"/>
              <a:buChar char="•"/>
            </a:pPr>
            <a:r>
              <a:rPr lang="en-IN" dirty="0">
                <a:latin typeface="Nunito" pitchFamily="2" charset="0"/>
              </a:rPr>
              <a:t>Label Encoding: </a:t>
            </a:r>
            <a:r>
              <a:rPr lang="en-US" dirty="0">
                <a:latin typeface="Nunito" pitchFamily="2" charset="0"/>
              </a:rPr>
              <a:t>Assigns each category an integer value</a:t>
            </a:r>
          </a:p>
          <a:p>
            <a:pPr marL="1200150" lvl="2" indent="-285750">
              <a:lnSpc>
                <a:spcPct val="150000"/>
              </a:lnSpc>
              <a:buFont typeface="Arial" panose="020B0604020202020204" pitchFamily="34" charset="0"/>
              <a:buChar char="•"/>
            </a:pPr>
            <a:r>
              <a:rPr lang="en-IN" dirty="0">
                <a:latin typeface="Nunito" pitchFamily="2" charset="0"/>
              </a:rPr>
              <a:t>One-Hot Encoding: </a:t>
            </a:r>
            <a:r>
              <a:rPr lang="en-US" dirty="0">
                <a:latin typeface="Nunito" pitchFamily="2" charset="0"/>
              </a:rPr>
              <a:t>Creates a new binary column for each category</a:t>
            </a:r>
          </a:p>
          <a:p>
            <a:pPr marL="1200150" lvl="2" indent="-285750">
              <a:lnSpc>
                <a:spcPct val="150000"/>
              </a:lnSpc>
              <a:buFont typeface="Arial" panose="020B0604020202020204" pitchFamily="34" charset="0"/>
              <a:buChar char="•"/>
            </a:pPr>
            <a:r>
              <a:rPr lang="en-IN" dirty="0">
                <a:latin typeface="Nunito" pitchFamily="2" charset="0"/>
              </a:rPr>
              <a:t>Ordinal Encoding: </a:t>
            </a:r>
            <a:r>
              <a:rPr lang="en-US" dirty="0">
                <a:latin typeface="Nunito" pitchFamily="2" charset="0"/>
              </a:rPr>
              <a:t>Assigns values based on meaningful order</a:t>
            </a:r>
          </a:p>
          <a:p>
            <a:pPr marL="285750" indent="-285750">
              <a:lnSpc>
                <a:spcPct val="150000"/>
              </a:lnSpc>
              <a:buFont typeface="Courier New" panose="02070309020205020404" pitchFamily="49" charset="0"/>
              <a:buChar char="o"/>
            </a:pPr>
            <a:r>
              <a:rPr lang="en-IN" b="1" dirty="0">
                <a:latin typeface="Nunito" pitchFamily="2" charset="0"/>
              </a:rPr>
              <a:t>Mathematical Transformations: </a:t>
            </a:r>
            <a:r>
              <a:rPr lang="en-US" dirty="0">
                <a:latin typeface="Nunito" pitchFamily="2" charset="0"/>
              </a:rPr>
              <a:t>These transformations modify the distribution of data to remove skewness or improve linearity. These include Log Transformation, Square-Root Transformation, </a:t>
            </a:r>
            <a:r>
              <a:rPr lang="en-IN" dirty="0">
                <a:latin typeface="Nunito" pitchFamily="2" charset="0"/>
              </a:rPr>
              <a:t>Binning, etc.</a:t>
            </a:r>
            <a:endParaRPr lang="en-US" b="1" dirty="0">
              <a:latin typeface="Nunito" pitchFamily="2" charset="0"/>
            </a:endParaRPr>
          </a:p>
        </p:txBody>
      </p:sp>
    </p:spTree>
    <p:extLst>
      <p:ext uri="{BB962C8B-B14F-4D97-AF65-F5344CB8AC3E}">
        <p14:creationId xmlns:p14="http://schemas.microsoft.com/office/powerpoint/2010/main" val="3895512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1DE34F-E4F2-67E7-8DA2-68E3E35D765A}"/>
              </a:ext>
            </a:extLst>
          </p:cNvPr>
          <p:cNvSpPr>
            <a:spLocks noGrp="1"/>
          </p:cNvSpPr>
          <p:nvPr>
            <p:ph type="title"/>
          </p:nvPr>
        </p:nvSpPr>
        <p:spPr>
          <a:xfrm>
            <a:off x="412169" y="325595"/>
            <a:ext cx="5202051" cy="549476"/>
          </a:xfrm>
        </p:spPr>
        <p:txBody>
          <a:bodyPr>
            <a:normAutofit fontScale="90000"/>
          </a:bodyPr>
          <a:lstStyle/>
          <a:p>
            <a:r>
              <a:rPr lang="en-IN" b="1" dirty="0"/>
              <a:t>Feature Extraction</a:t>
            </a:r>
          </a:p>
        </p:txBody>
      </p:sp>
      <p:sp>
        <p:nvSpPr>
          <p:cNvPr id="4" name="TextBox 3">
            <a:extLst>
              <a:ext uri="{FF2B5EF4-FFF2-40B4-BE49-F238E27FC236}">
                <a16:creationId xmlns:a16="http://schemas.microsoft.com/office/drawing/2014/main" id="{1EBF7DB6-C494-D55F-2C0B-B852FE77FB81}"/>
              </a:ext>
            </a:extLst>
          </p:cNvPr>
          <p:cNvSpPr txBox="1"/>
          <p:nvPr/>
        </p:nvSpPr>
        <p:spPr>
          <a:xfrm>
            <a:off x="412169" y="1043519"/>
            <a:ext cx="10363200" cy="4455066"/>
          </a:xfrm>
          <a:prstGeom prst="rect">
            <a:avLst/>
          </a:prstGeom>
          <a:noFill/>
        </p:spPr>
        <p:txBody>
          <a:bodyPr wrap="square">
            <a:spAutoFit/>
          </a:bodyPr>
          <a:lstStyle/>
          <a:p>
            <a:pPr>
              <a:lnSpc>
                <a:spcPct val="200000"/>
              </a:lnSpc>
            </a:pPr>
            <a:r>
              <a:rPr lang="en-US" dirty="0">
                <a:latin typeface="Nunito" pitchFamily="2" charset="0"/>
              </a:rPr>
              <a:t>Feature Extraction is the process of reducing raw data into a smaller set of informative, meaningful features. Instead of working with the original high-dimensional data, the most important characteristics are extracted that help the machine learning model learn efficiently.</a:t>
            </a:r>
          </a:p>
          <a:p>
            <a:pPr marL="285750" indent="-285750">
              <a:lnSpc>
                <a:spcPct val="200000"/>
              </a:lnSpc>
              <a:buFont typeface="Courier New" panose="02070309020205020404" pitchFamily="49" charset="0"/>
              <a:buChar char="o"/>
            </a:pPr>
            <a:r>
              <a:rPr lang="en-US" b="1" dirty="0">
                <a:latin typeface="Nunito" pitchFamily="2" charset="0"/>
              </a:rPr>
              <a:t>Dimensionality reduction</a:t>
            </a:r>
            <a:r>
              <a:rPr lang="en-US" dirty="0">
                <a:latin typeface="Nunito" pitchFamily="2" charset="0"/>
              </a:rPr>
              <a:t>: Dimensionality reduction techniques compress high-dimensional data into fewer features while retaining the most important patterns Techniques like PCA, LDA reduce features while preserving important information.</a:t>
            </a:r>
          </a:p>
          <a:p>
            <a:pPr marL="285750" indent="-285750">
              <a:lnSpc>
                <a:spcPct val="200000"/>
              </a:lnSpc>
              <a:buFont typeface="Courier New" panose="02070309020205020404" pitchFamily="49" charset="0"/>
              <a:buChar char="o"/>
            </a:pPr>
            <a:r>
              <a:rPr lang="en-IN" b="1" dirty="0">
                <a:latin typeface="Nunito" pitchFamily="2" charset="0"/>
              </a:rPr>
              <a:t>Aggregation &amp; Combination: </a:t>
            </a:r>
            <a:r>
              <a:rPr lang="en-US" dirty="0">
                <a:latin typeface="Nunito" pitchFamily="2" charset="0"/>
              </a:rPr>
              <a:t>Aggregation methods create simpler, higher-level features by combining multiple raw features.</a:t>
            </a:r>
            <a:endParaRPr lang="en-IN" dirty="0">
              <a:latin typeface="Nunito" pitchFamily="2" charset="0"/>
            </a:endParaRPr>
          </a:p>
        </p:txBody>
      </p:sp>
    </p:spTree>
    <p:extLst>
      <p:ext uri="{BB962C8B-B14F-4D97-AF65-F5344CB8AC3E}">
        <p14:creationId xmlns:p14="http://schemas.microsoft.com/office/powerpoint/2010/main" val="645949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3BF571-363F-620D-AA9B-4C61C3F40D6B}"/>
              </a:ext>
            </a:extLst>
          </p:cNvPr>
          <p:cNvSpPr>
            <a:spLocks noGrp="1"/>
          </p:cNvSpPr>
          <p:nvPr>
            <p:ph type="title"/>
          </p:nvPr>
        </p:nvSpPr>
        <p:spPr>
          <a:xfrm>
            <a:off x="294181" y="325595"/>
            <a:ext cx="4966077" cy="588805"/>
          </a:xfrm>
        </p:spPr>
        <p:txBody>
          <a:bodyPr>
            <a:normAutofit fontScale="90000"/>
          </a:bodyPr>
          <a:lstStyle/>
          <a:p>
            <a:r>
              <a:rPr lang="en-IN" b="1" dirty="0"/>
              <a:t>Feature Selection</a:t>
            </a:r>
          </a:p>
        </p:txBody>
      </p:sp>
      <p:sp>
        <p:nvSpPr>
          <p:cNvPr id="4" name="TextBox 3">
            <a:extLst>
              <a:ext uri="{FF2B5EF4-FFF2-40B4-BE49-F238E27FC236}">
                <a16:creationId xmlns:a16="http://schemas.microsoft.com/office/drawing/2014/main" id="{2269FF4C-3AA5-ADB6-F45B-C4B3D12E4B62}"/>
              </a:ext>
            </a:extLst>
          </p:cNvPr>
          <p:cNvSpPr txBox="1"/>
          <p:nvPr/>
        </p:nvSpPr>
        <p:spPr>
          <a:xfrm>
            <a:off x="648929" y="1091380"/>
            <a:ext cx="10520516" cy="3693319"/>
          </a:xfrm>
          <a:prstGeom prst="rect">
            <a:avLst/>
          </a:prstGeom>
          <a:noFill/>
        </p:spPr>
        <p:txBody>
          <a:bodyPr wrap="square">
            <a:spAutoFit/>
          </a:bodyPr>
          <a:lstStyle/>
          <a:p>
            <a:pPr>
              <a:lnSpc>
                <a:spcPct val="200000"/>
              </a:lnSpc>
              <a:buNone/>
            </a:pPr>
            <a:r>
              <a:rPr lang="en-US" dirty="0">
                <a:latin typeface="Nunito" pitchFamily="2" charset="0"/>
              </a:rPr>
              <a:t>Feature Selection is the process of choosing a subset of the most relevant features from the dataset.</a:t>
            </a:r>
            <a:br>
              <a:rPr lang="en-US" dirty="0">
                <a:latin typeface="Nunito" pitchFamily="2" charset="0"/>
              </a:rPr>
            </a:br>
            <a:r>
              <a:rPr lang="en-US" dirty="0">
                <a:latin typeface="Nunito" pitchFamily="2" charset="0"/>
              </a:rPr>
              <a:t>Its goal is to remove irrelevant, redundant, or noisy features to improve model accuracy, reduce overfitting, and speed up computation. It does not create new features, it only selects the best ones.</a:t>
            </a:r>
          </a:p>
          <a:p>
            <a:pPr marL="285750" indent="-285750" fontAlgn="base">
              <a:lnSpc>
                <a:spcPct val="200000"/>
              </a:lnSpc>
              <a:buFont typeface="Courier New" panose="02070309020205020404" pitchFamily="49" charset="0"/>
              <a:buChar char="o"/>
            </a:pPr>
            <a:r>
              <a:rPr lang="en-US" b="1" dirty="0">
                <a:latin typeface="Nunito" pitchFamily="2" charset="0"/>
              </a:rPr>
              <a:t>Filter methods</a:t>
            </a:r>
            <a:r>
              <a:rPr lang="en-US" dirty="0">
                <a:latin typeface="Nunito" pitchFamily="2" charset="0"/>
              </a:rPr>
              <a:t>: Based on statistical measures like correlation.</a:t>
            </a:r>
          </a:p>
          <a:p>
            <a:pPr marL="285750" indent="-285750" fontAlgn="base">
              <a:lnSpc>
                <a:spcPct val="200000"/>
              </a:lnSpc>
              <a:buFont typeface="Courier New" panose="02070309020205020404" pitchFamily="49" charset="0"/>
              <a:buChar char="o"/>
            </a:pPr>
            <a:r>
              <a:rPr lang="en-US" b="1" dirty="0">
                <a:latin typeface="Nunito" pitchFamily="2" charset="0"/>
              </a:rPr>
              <a:t>Wrapper methods</a:t>
            </a:r>
            <a:r>
              <a:rPr lang="en-US" dirty="0">
                <a:latin typeface="Nunito" pitchFamily="2" charset="0"/>
              </a:rPr>
              <a:t>: Select based on model performance.</a:t>
            </a:r>
          </a:p>
          <a:p>
            <a:pPr marL="285750" indent="-285750" fontAlgn="base">
              <a:lnSpc>
                <a:spcPct val="200000"/>
              </a:lnSpc>
              <a:buFont typeface="Courier New" panose="02070309020205020404" pitchFamily="49" charset="0"/>
              <a:buChar char="o"/>
            </a:pPr>
            <a:r>
              <a:rPr lang="en-US" b="1" dirty="0">
                <a:latin typeface="Nunito" pitchFamily="2" charset="0"/>
              </a:rPr>
              <a:t>Embedded methods</a:t>
            </a:r>
            <a:r>
              <a:rPr lang="en-US" dirty="0">
                <a:latin typeface="Nunito" pitchFamily="2" charset="0"/>
              </a:rPr>
              <a:t>: Feature selection integrated within model training.</a:t>
            </a:r>
          </a:p>
          <a:p>
            <a:pPr>
              <a:buNone/>
            </a:pPr>
            <a:endParaRPr lang="en-US" dirty="0">
              <a:latin typeface="Nunito" pitchFamily="2" charset="0"/>
            </a:endParaRPr>
          </a:p>
        </p:txBody>
      </p:sp>
    </p:spTree>
    <p:extLst>
      <p:ext uri="{BB962C8B-B14F-4D97-AF65-F5344CB8AC3E}">
        <p14:creationId xmlns:p14="http://schemas.microsoft.com/office/powerpoint/2010/main" val="3873175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470FB-0291-CD6E-CDFD-2782A5DAC775}"/>
              </a:ext>
            </a:extLst>
          </p:cNvPr>
          <p:cNvSpPr>
            <a:spLocks noGrp="1"/>
          </p:cNvSpPr>
          <p:nvPr>
            <p:ph type="title"/>
          </p:nvPr>
        </p:nvSpPr>
        <p:spPr>
          <a:xfrm>
            <a:off x="510491" y="374756"/>
            <a:ext cx="4730103" cy="637967"/>
          </a:xfrm>
        </p:spPr>
        <p:txBody>
          <a:bodyPr>
            <a:normAutofit fontScale="90000"/>
          </a:bodyPr>
          <a:lstStyle/>
          <a:p>
            <a:r>
              <a:rPr lang="en-IN" b="1" dirty="0"/>
              <a:t>Feature Scaling</a:t>
            </a:r>
          </a:p>
        </p:txBody>
      </p:sp>
      <p:sp>
        <p:nvSpPr>
          <p:cNvPr id="4" name="TextBox 3">
            <a:extLst>
              <a:ext uri="{FF2B5EF4-FFF2-40B4-BE49-F238E27FC236}">
                <a16:creationId xmlns:a16="http://schemas.microsoft.com/office/drawing/2014/main" id="{C12C4CE1-6C1D-7024-6B9B-46D19B2FD26F}"/>
              </a:ext>
            </a:extLst>
          </p:cNvPr>
          <p:cNvSpPr txBox="1"/>
          <p:nvPr/>
        </p:nvSpPr>
        <p:spPr>
          <a:xfrm>
            <a:off x="609599" y="1387648"/>
            <a:ext cx="10215717" cy="3277820"/>
          </a:xfrm>
          <a:prstGeom prst="rect">
            <a:avLst/>
          </a:prstGeom>
          <a:noFill/>
        </p:spPr>
        <p:txBody>
          <a:bodyPr wrap="square">
            <a:spAutoFit/>
          </a:bodyPr>
          <a:lstStyle/>
          <a:p>
            <a:pPr>
              <a:lnSpc>
                <a:spcPct val="150000"/>
              </a:lnSpc>
            </a:pPr>
            <a:r>
              <a:rPr lang="en-US" dirty="0">
                <a:latin typeface="Nunito" pitchFamily="2" charset="0"/>
              </a:rPr>
              <a:t>Feature Scaling is the process of transforming numerical features so they share a similar range or distribution. It ensures that no feature dominates others due to larger magnitude, which helps models converge faster and perform better especially distance-based models like KNN, SVM, and gradient descent-based algorithms.</a:t>
            </a:r>
          </a:p>
          <a:p>
            <a:pPr marL="285750" indent="-285750">
              <a:lnSpc>
                <a:spcPct val="150000"/>
              </a:lnSpc>
              <a:buFont typeface="Courier New" panose="02070309020205020404" pitchFamily="49" charset="0"/>
              <a:buChar char="o"/>
            </a:pPr>
            <a:r>
              <a:rPr lang="en-US" b="1" dirty="0">
                <a:latin typeface="Nunito" pitchFamily="2" charset="0"/>
              </a:rPr>
              <a:t>Min–Max Scaling (Normalization): </a:t>
            </a:r>
            <a:r>
              <a:rPr lang="en-US" dirty="0">
                <a:latin typeface="Nunito" pitchFamily="2" charset="0"/>
              </a:rPr>
              <a:t>Min–Max scaling rescales feature values to a fixed range, typically 0 to 1.</a:t>
            </a:r>
          </a:p>
          <a:p>
            <a:pPr marL="285750" indent="-285750">
              <a:lnSpc>
                <a:spcPct val="150000"/>
              </a:lnSpc>
              <a:buFont typeface="Courier New" panose="02070309020205020404" pitchFamily="49" charset="0"/>
              <a:buChar char="o"/>
            </a:pPr>
            <a:r>
              <a:rPr lang="en-US" b="1" dirty="0">
                <a:latin typeface="Nunito" pitchFamily="2" charset="0"/>
              </a:rPr>
              <a:t>Standard scaling</a:t>
            </a:r>
            <a:r>
              <a:rPr lang="en-US" dirty="0">
                <a:latin typeface="Nunito" pitchFamily="2" charset="0"/>
              </a:rPr>
              <a:t>: Normalizes to have a mean of 0 and variance of 1.</a:t>
            </a:r>
          </a:p>
          <a:p>
            <a:endParaRPr lang="en-IN" dirty="0"/>
          </a:p>
        </p:txBody>
      </p:sp>
    </p:spTree>
    <p:extLst>
      <p:ext uri="{BB962C8B-B14F-4D97-AF65-F5344CB8AC3E}">
        <p14:creationId xmlns:p14="http://schemas.microsoft.com/office/powerpoint/2010/main" val="29363752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0A3F7-5828-570E-B176-3FA86BA51127}"/>
              </a:ext>
            </a:extLst>
          </p:cNvPr>
          <p:cNvSpPr>
            <a:spLocks noGrp="1"/>
          </p:cNvSpPr>
          <p:nvPr>
            <p:ph type="title"/>
          </p:nvPr>
        </p:nvSpPr>
        <p:spPr>
          <a:xfrm>
            <a:off x="304013" y="335428"/>
            <a:ext cx="6244271" cy="539643"/>
          </a:xfrm>
        </p:spPr>
        <p:txBody>
          <a:bodyPr>
            <a:normAutofit fontScale="90000"/>
          </a:bodyPr>
          <a:lstStyle/>
          <a:p>
            <a:r>
              <a:rPr lang="en-US" b="1" dirty="0"/>
              <a:t>STORING DATA in Snowflake</a:t>
            </a:r>
            <a:endParaRPr lang="en-IN" b="1" dirty="0"/>
          </a:p>
        </p:txBody>
      </p:sp>
      <p:sp>
        <p:nvSpPr>
          <p:cNvPr id="4" name="TextBox 3">
            <a:extLst>
              <a:ext uri="{FF2B5EF4-FFF2-40B4-BE49-F238E27FC236}">
                <a16:creationId xmlns:a16="http://schemas.microsoft.com/office/drawing/2014/main" id="{59266B91-7750-A756-EC3D-ED74B38D1B0A}"/>
              </a:ext>
            </a:extLst>
          </p:cNvPr>
          <p:cNvSpPr txBox="1"/>
          <p:nvPr/>
        </p:nvSpPr>
        <p:spPr>
          <a:xfrm>
            <a:off x="580103" y="1347470"/>
            <a:ext cx="10717162" cy="4108817"/>
          </a:xfrm>
          <a:prstGeom prst="rect">
            <a:avLst/>
          </a:prstGeom>
          <a:noFill/>
        </p:spPr>
        <p:txBody>
          <a:bodyPr wrap="square">
            <a:spAutoFit/>
          </a:bodyPr>
          <a:lstStyle/>
          <a:p>
            <a:pPr marL="285750" indent="-285750">
              <a:lnSpc>
                <a:spcPct val="150000"/>
              </a:lnSpc>
              <a:buFont typeface="Courier New" panose="02070309020205020404" pitchFamily="49" charset="0"/>
              <a:buChar char="o"/>
            </a:pPr>
            <a:r>
              <a:rPr lang="en-US" dirty="0">
                <a:latin typeface="Nunito" pitchFamily="2" charset="0"/>
              </a:rPr>
              <a:t>Snowflake is a cloud-based data warehouse that supports both structured and semi-structured data using its unique storage architecture.</a:t>
            </a:r>
          </a:p>
          <a:p>
            <a:pPr marL="285750" indent="-285750">
              <a:lnSpc>
                <a:spcPct val="150000"/>
              </a:lnSpc>
              <a:buFont typeface="Courier New" panose="02070309020205020404" pitchFamily="49" charset="0"/>
              <a:buChar char="o"/>
            </a:pPr>
            <a:r>
              <a:rPr lang="en-IN" dirty="0">
                <a:latin typeface="Nunito" pitchFamily="2" charset="0"/>
              </a:rPr>
              <a:t>Snowflake stores structured data in traditional, optimized relational tables and semi-structured data (like JSON, Avro, XML) within a flexible VARIANT data type, often in a single column, allowing for schema-on-read querying with standard SQL.</a:t>
            </a:r>
          </a:p>
          <a:p>
            <a:pPr marL="285750" indent="-285750">
              <a:lnSpc>
                <a:spcPct val="150000"/>
              </a:lnSpc>
              <a:buFont typeface="Courier New" panose="02070309020205020404" pitchFamily="49" charset="0"/>
              <a:buChar char="o"/>
            </a:pPr>
            <a:r>
              <a:rPr lang="en-US" dirty="0">
                <a:latin typeface="Nunito" pitchFamily="2" charset="0"/>
              </a:rPr>
              <a:t>Data is automatically compressed, encrypted, and divided into micro-partitions, with metadata tracking locations, making it efficient for both types; users can query semi-structured data directly or transform it into structured formats as needed, combining it seamlessly with relational data for powerful analytics. </a:t>
            </a:r>
            <a:endParaRPr lang="en-IN" dirty="0">
              <a:latin typeface="Nunito" pitchFamily="2" charset="0"/>
            </a:endParaRPr>
          </a:p>
          <a:p>
            <a:endParaRPr lang="en-IN" dirty="0">
              <a:latin typeface="Nunito" pitchFamily="2" charset="0"/>
            </a:endParaRPr>
          </a:p>
        </p:txBody>
      </p:sp>
    </p:spTree>
    <p:extLst>
      <p:ext uri="{BB962C8B-B14F-4D97-AF65-F5344CB8AC3E}">
        <p14:creationId xmlns:p14="http://schemas.microsoft.com/office/powerpoint/2010/main" val="20724490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C5696-7C04-6ED5-4135-FDCF468CF95E}"/>
              </a:ext>
            </a:extLst>
          </p:cNvPr>
          <p:cNvSpPr>
            <a:spLocks noGrp="1"/>
          </p:cNvSpPr>
          <p:nvPr>
            <p:ph type="title"/>
          </p:nvPr>
        </p:nvSpPr>
        <p:spPr>
          <a:xfrm>
            <a:off x="431833" y="355092"/>
            <a:ext cx="5349535" cy="647798"/>
          </a:xfrm>
        </p:spPr>
        <p:txBody>
          <a:bodyPr>
            <a:normAutofit fontScale="90000"/>
          </a:bodyPr>
          <a:lstStyle/>
          <a:p>
            <a:r>
              <a:rPr lang="en-IN" b="1" dirty="0"/>
              <a:t>SQL with Snowflake</a:t>
            </a:r>
          </a:p>
        </p:txBody>
      </p:sp>
      <p:sp>
        <p:nvSpPr>
          <p:cNvPr id="3" name="TextBox 2">
            <a:extLst>
              <a:ext uri="{FF2B5EF4-FFF2-40B4-BE49-F238E27FC236}">
                <a16:creationId xmlns:a16="http://schemas.microsoft.com/office/drawing/2014/main" id="{CFC17783-D22D-6D46-929C-B4C7ECC182D8}"/>
              </a:ext>
            </a:extLst>
          </p:cNvPr>
          <p:cNvSpPr txBox="1"/>
          <p:nvPr/>
        </p:nvSpPr>
        <p:spPr>
          <a:xfrm>
            <a:off x="707923" y="1420139"/>
            <a:ext cx="9724103" cy="369332"/>
          </a:xfrm>
          <a:prstGeom prst="rect">
            <a:avLst/>
          </a:prstGeom>
          <a:noFill/>
        </p:spPr>
        <p:txBody>
          <a:bodyPr wrap="square" rtlCol="0">
            <a:spAutoFit/>
          </a:bodyPr>
          <a:lstStyle/>
          <a:p>
            <a:r>
              <a:rPr lang="en-IN" dirty="0">
                <a:latin typeface="Nunito" pitchFamily="2" charset="0"/>
              </a:rPr>
              <a:t>Data Set:  </a:t>
            </a:r>
            <a:r>
              <a:rPr lang="en-IN" dirty="0">
                <a:latin typeface="Nunito" pitchFamily="2" charset="0"/>
                <a:hlinkClick r:id="rId2"/>
              </a:rPr>
              <a:t>Automobile Sales Data </a:t>
            </a:r>
            <a:r>
              <a:rPr lang="en-IN" dirty="0">
                <a:latin typeface="Nunito" pitchFamily="2" charset="0"/>
              </a:rPr>
              <a:t>from Kaggle</a:t>
            </a:r>
          </a:p>
        </p:txBody>
      </p:sp>
      <p:pic>
        <p:nvPicPr>
          <p:cNvPr id="5" name="Picture 4">
            <a:extLst>
              <a:ext uri="{FF2B5EF4-FFF2-40B4-BE49-F238E27FC236}">
                <a16:creationId xmlns:a16="http://schemas.microsoft.com/office/drawing/2014/main" id="{C3A38BF5-26B5-9360-4048-8D32A72AB092}"/>
              </a:ext>
            </a:extLst>
          </p:cNvPr>
          <p:cNvPicPr>
            <a:picLocks noChangeAspect="1"/>
          </p:cNvPicPr>
          <p:nvPr/>
        </p:nvPicPr>
        <p:blipFill>
          <a:blip r:embed="rId3"/>
          <a:stretch>
            <a:fillRect/>
          </a:stretch>
        </p:blipFill>
        <p:spPr>
          <a:xfrm>
            <a:off x="2984982" y="1907459"/>
            <a:ext cx="3484644" cy="4765868"/>
          </a:xfrm>
          <a:prstGeom prst="rect">
            <a:avLst/>
          </a:prstGeom>
        </p:spPr>
      </p:pic>
      <p:sp>
        <p:nvSpPr>
          <p:cNvPr id="6" name="TextBox 5">
            <a:extLst>
              <a:ext uri="{FF2B5EF4-FFF2-40B4-BE49-F238E27FC236}">
                <a16:creationId xmlns:a16="http://schemas.microsoft.com/office/drawing/2014/main" id="{E11CA16E-2CB5-0DF0-B512-633DB6CD11DE}"/>
              </a:ext>
            </a:extLst>
          </p:cNvPr>
          <p:cNvSpPr txBox="1"/>
          <p:nvPr/>
        </p:nvSpPr>
        <p:spPr>
          <a:xfrm>
            <a:off x="431833" y="2389239"/>
            <a:ext cx="2429354" cy="646331"/>
          </a:xfrm>
          <a:prstGeom prst="rect">
            <a:avLst/>
          </a:prstGeom>
          <a:noFill/>
        </p:spPr>
        <p:txBody>
          <a:bodyPr wrap="square" rtlCol="0">
            <a:spAutoFit/>
          </a:bodyPr>
          <a:lstStyle/>
          <a:p>
            <a:r>
              <a:rPr lang="en-IN" dirty="0">
                <a:latin typeface="Nunito" pitchFamily="2" charset="0"/>
              </a:rPr>
              <a:t>Code to setup database and tables</a:t>
            </a:r>
          </a:p>
        </p:txBody>
      </p:sp>
      <p:sp>
        <p:nvSpPr>
          <p:cNvPr id="9" name="TextBox 8">
            <a:extLst>
              <a:ext uri="{FF2B5EF4-FFF2-40B4-BE49-F238E27FC236}">
                <a16:creationId xmlns:a16="http://schemas.microsoft.com/office/drawing/2014/main" id="{895363AA-30B3-9733-77B7-56E44622BF91}"/>
              </a:ext>
            </a:extLst>
          </p:cNvPr>
          <p:cNvSpPr txBox="1"/>
          <p:nvPr/>
        </p:nvSpPr>
        <p:spPr>
          <a:xfrm>
            <a:off x="7637606" y="6222066"/>
            <a:ext cx="3816973" cy="646331"/>
          </a:xfrm>
          <a:prstGeom prst="rect">
            <a:avLst/>
          </a:prstGeom>
          <a:noFill/>
        </p:spPr>
        <p:txBody>
          <a:bodyPr wrap="square" rtlCol="0">
            <a:spAutoFit/>
          </a:bodyPr>
          <a:lstStyle/>
          <a:p>
            <a:r>
              <a:rPr lang="en-IN" dirty="0">
                <a:latin typeface="Nunito" pitchFamily="2" charset="0"/>
              </a:rPr>
              <a:t>Query with aggregations and encoding </a:t>
            </a:r>
          </a:p>
        </p:txBody>
      </p:sp>
      <p:pic>
        <p:nvPicPr>
          <p:cNvPr id="13" name="Picture 12">
            <a:extLst>
              <a:ext uri="{FF2B5EF4-FFF2-40B4-BE49-F238E27FC236}">
                <a16:creationId xmlns:a16="http://schemas.microsoft.com/office/drawing/2014/main" id="{AF1FF27F-D931-6101-18C7-4CB0282D82C7}"/>
              </a:ext>
            </a:extLst>
          </p:cNvPr>
          <p:cNvPicPr>
            <a:picLocks noChangeAspect="1"/>
          </p:cNvPicPr>
          <p:nvPr/>
        </p:nvPicPr>
        <p:blipFill>
          <a:blip r:embed="rId4"/>
          <a:stretch>
            <a:fillRect/>
          </a:stretch>
        </p:blipFill>
        <p:spPr>
          <a:xfrm>
            <a:off x="6794090" y="1907459"/>
            <a:ext cx="5262037" cy="4196417"/>
          </a:xfrm>
          <a:prstGeom prst="rect">
            <a:avLst/>
          </a:prstGeom>
        </p:spPr>
      </p:pic>
    </p:spTree>
    <p:extLst>
      <p:ext uri="{BB962C8B-B14F-4D97-AF65-F5344CB8AC3E}">
        <p14:creationId xmlns:p14="http://schemas.microsoft.com/office/powerpoint/2010/main" val="14801577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B5CAEE-11D3-F4D9-9427-0A6E83CF01ED}"/>
              </a:ext>
            </a:extLst>
          </p:cNvPr>
          <p:cNvSpPr>
            <a:spLocks noGrp="1"/>
          </p:cNvSpPr>
          <p:nvPr>
            <p:ph type="title"/>
          </p:nvPr>
        </p:nvSpPr>
        <p:spPr>
          <a:xfrm>
            <a:off x="372839" y="237106"/>
            <a:ext cx="5968967" cy="588805"/>
          </a:xfrm>
        </p:spPr>
        <p:txBody>
          <a:bodyPr>
            <a:normAutofit fontScale="90000"/>
          </a:bodyPr>
          <a:lstStyle/>
          <a:p>
            <a:r>
              <a:rPr lang="en-IN" b="1" dirty="0"/>
              <a:t>ML Pipelines in Snowflake</a:t>
            </a:r>
          </a:p>
        </p:txBody>
      </p:sp>
      <p:sp>
        <p:nvSpPr>
          <p:cNvPr id="7" name="TextBox 6">
            <a:extLst>
              <a:ext uri="{FF2B5EF4-FFF2-40B4-BE49-F238E27FC236}">
                <a16:creationId xmlns:a16="http://schemas.microsoft.com/office/drawing/2014/main" id="{11A65AAB-BDF9-D815-1327-FB3DF5D22495}"/>
              </a:ext>
            </a:extLst>
          </p:cNvPr>
          <p:cNvSpPr txBox="1"/>
          <p:nvPr/>
        </p:nvSpPr>
        <p:spPr>
          <a:xfrm>
            <a:off x="521109" y="1356852"/>
            <a:ext cx="9527458" cy="3345468"/>
          </a:xfrm>
          <a:prstGeom prst="rect">
            <a:avLst/>
          </a:prstGeom>
          <a:noFill/>
        </p:spPr>
        <p:txBody>
          <a:bodyPr wrap="square">
            <a:spAutoFit/>
          </a:bodyPr>
          <a:lstStyle/>
          <a:p>
            <a:pPr marL="285750" indent="-285750">
              <a:lnSpc>
                <a:spcPct val="200000"/>
              </a:lnSpc>
              <a:buFont typeface="Courier New" panose="02070309020205020404" pitchFamily="49" charset="0"/>
              <a:buChar char="o"/>
            </a:pPr>
            <a:r>
              <a:rPr lang="en-US" dirty="0">
                <a:latin typeface="Nunito" pitchFamily="2" charset="0"/>
              </a:rPr>
              <a:t>Connects easily with tools like AWS SageMaker, Azure ML, Databricks, and Python notebooks for model training.</a:t>
            </a:r>
          </a:p>
          <a:p>
            <a:pPr marL="285750" indent="-285750">
              <a:lnSpc>
                <a:spcPct val="200000"/>
              </a:lnSpc>
              <a:buFont typeface="Courier New" panose="02070309020205020404" pitchFamily="49" charset="0"/>
              <a:buChar char="o"/>
            </a:pPr>
            <a:r>
              <a:rPr lang="en-US" dirty="0">
                <a:latin typeface="Nunito" pitchFamily="2" charset="0"/>
              </a:rPr>
              <a:t>With Snowpark, UDFs, and external ML tools like SageMaker or Vertex AI, Snowflake enables seamless model training and deployment.</a:t>
            </a:r>
          </a:p>
          <a:p>
            <a:pPr marL="285750" indent="-285750">
              <a:lnSpc>
                <a:spcPct val="200000"/>
              </a:lnSpc>
              <a:buFont typeface="Courier New" panose="02070309020205020404" pitchFamily="49" charset="0"/>
              <a:buChar char="o"/>
            </a:pPr>
            <a:r>
              <a:rPr lang="en-US" dirty="0">
                <a:latin typeface="Nunito" pitchFamily="2" charset="0"/>
              </a:rPr>
              <a:t>It also supports </a:t>
            </a:r>
            <a:r>
              <a:rPr lang="en-US" dirty="0" err="1">
                <a:latin typeface="Nunito" pitchFamily="2" charset="0"/>
              </a:rPr>
              <a:t>MLOps</a:t>
            </a:r>
            <a:r>
              <a:rPr lang="en-US" dirty="0">
                <a:latin typeface="Nunito" pitchFamily="2" charset="0"/>
              </a:rPr>
              <a:t> through tasks, streams, and feature store capabilities, allowing scalable, secure, end-to-end ML workflows.</a:t>
            </a:r>
          </a:p>
        </p:txBody>
      </p:sp>
    </p:spTree>
    <p:extLst>
      <p:ext uri="{BB962C8B-B14F-4D97-AF65-F5344CB8AC3E}">
        <p14:creationId xmlns:p14="http://schemas.microsoft.com/office/powerpoint/2010/main" val="19532560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4EA67-5C7F-980A-BF02-A3DE73843E21}"/>
              </a:ext>
            </a:extLst>
          </p:cNvPr>
          <p:cNvSpPr>
            <a:spLocks noGrp="1"/>
          </p:cNvSpPr>
          <p:nvPr>
            <p:ph type="title"/>
          </p:nvPr>
        </p:nvSpPr>
        <p:spPr>
          <a:xfrm>
            <a:off x="697304" y="433750"/>
            <a:ext cx="3707548" cy="687127"/>
          </a:xfrm>
        </p:spPr>
        <p:txBody>
          <a:bodyPr>
            <a:normAutofit fontScale="90000"/>
          </a:bodyPr>
          <a:lstStyle/>
          <a:p>
            <a:r>
              <a:rPr lang="en-IN" b="1" dirty="0"/>
              <a:t>Feature Store</a:t>
            </a:r>
          </a:p>
        </p:txBody>
      </p:sp>
      <p:sp>
        <p:nvSpPr>
          <p:cNvPr id="4" name="TextBox 3">
            <a:extLst>
              <a:ext uri="{FF2B5EF4-FFF2-40B4-BE49-F238E27FC236}">
                <a16:creationId xmlns:a16="http://schemas.microsoft.com/office/drawing/2014/main" id="{28AB046D-B18F-939B-FBAE-57EC1107FF24}"/>
              </a:ext>
            </a:extLst>
          </p:cNvPr>
          <p:cNvSpPr txBox="1"/>
          <p:nvPr/>
        </p:nvSpPr>
        <p:spPr>
          <a:xfrm>
            <a:off x="1022555" y="1434265"/>
            <a:ext cx="9075174" cy="3347070"/>
          </a:xfrm>
          <a:prstGeom prst="rect">
            <a:avLst/>
          </a:prstGeom>
          <a:noFill/>
        </p:spPr>
        <p:txBody>
          <a:bodyPr wrap="square">
            <a:spAutoFit/>
          </a:bodyPr>
          <a:lstStyle/>
          <a:p>
            <a:pPr>
              <a:lnSpc>
                <a:spcPct val="200000"/>
              </a:lnSpc>
            </a:pPr>
            <a:r>
              <a:rPr lang="en-US" dirty="0">
                <a:latin typeface="Nunito" pitchFamily="2" charset="0"/>
              </a:rPr>
              <a:t>A Feature Store is a centralized system used to store, manage, and serve ML-ready features for both model training and real-time predictions.</a:t>
            </a:r>
          </a:p>
          <a:p>
            <a:pPr>
              <a:lnSpc>
                <a:spcPct val="200000"/>
              </a:lnSpc>
            </a:pPr>
            <a:r>
              <a:rPr lang="en-IN" dirty="0">
                <a:latin typeface="Nunito" pitchFamily="2" charset="0"/>
              </a:rPr>
              <a:t>why is it needed? </a:t>
            </a:r>
          </a:p>
          <a:p>
            <a:pPr marL="285750" indent="-285750">
              <a:lnSpc>
                <a:spcPct val="200000"/>
              </a:lnSpc>
              <a:buFont typeface="Courier New" panose="02070309020205020404" pitchFamily="49" charset="0"/>
              <a:buChar char="o"/>
            </a:pPr>
            <a:r>
              <a:rPr lang="en-US" dirty="0">
                <a:latin typeface="Nunito" pitchFamily="2" charset="0"/>
              </a:rPr>
              <a:t>Ensures the same feature logic is used in both training and production.</a:t>
            </a:r>
          </a:p>
          <a:p>
            <a:pPr marL="285750" indent="-285750">
              <a:lnSpc>
                <a:spcPct val="200000"/>
              </a:lnSpc>
              <a:buFont typeface="Courier New" panose="02070309020205020404" pitchFamily="49" charset="0"/>
              <a:buChar char="o"/>
            </a:pPr>
            <a:r>
              <a:rPr lang="en-US" dirty="0">
                <a:latin typeface="Nunito" pitchFamily="2" charset="0"/>
              </a:rPr>
              <a:t>It ensures that feature definitions are consistent, reusable, and version-controlled.</a:t>
            </a:r>
          </a:p>
          <a:p>
            <a:pPr marL="285750" indent="-285750">
              <a:lnSpc>
                <a:spcPct val="200000"/>
              </a:lnSpc>
              <a:buFont typeface="Courier New" panose="02070309020205020404" pitchFamily="49" charset="0"/>
              <a:buChar char="o"/>
            </a:pPr>
            <a:r>
              <a:rPr lang="en-US" dirty="0">
                <a:latin typeface="Nunito" pitchFamily="2" charset="0"/>
              </a:rPr>
              <a:t>Helps with tracking, versioning, monitoring, and managing feature metadata.</a:t>
            </a:r>
            <a:endParaRPr lang="en-IN" dirty="0">
              <a:latin typeface="Nunito" pitchFamily="2" charset="0"/>
            </a:endParaRPr>
          </a:p>
        </p:txBody>
      </p:sp>
    </p:spTree>
    <p:extLst>
      <p:ext uri="{BB962C8B-B14F-4D97-AF65-F5344CB8AC3E}">
        <p14:creationId xmlns:p14="http://schemas.microsoft.com/office/powerpoint/2010/main" val="41348844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B4792-E999-9229-FD05-1FFDC7B95B1B}"/>
              </a:ext>
            </a:extLst>
          </p:cNvPr>
          <p:cNvSpPr>
            <a:spLocks noGrp="1"/>
          </p:cNvSpPr>
          <p:nvPr>
            <p:ph type="title"/>
          </p:nvPr>
        </p:nvSpPr>
        <p:spPr/>
        <p:txBody>
          <a:bodyPr/>
          <a:lstStyle/>
          <a:p>
            <a:endParaRPr lang="en-IN"/>
          </a:p>
        </p:txBody>
      </p:sp>
    </p:spTree>
    <p:extLst>
      <p:ext uri="{BB962C8B-B14F-4D97-AF65-F5344CB8AC3E}">
        <p14:creationId xmlns:p14="http://schemas.microsoft.com/office/powerpoint/2010/main" val="1987391804"/>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TM10001115[[fn=Parcel]]</Template>
  <TotalTime>187</TotalTime>
  <Words>1083</Words>
  <Application>Microsoft Office PowerPoint</Application>
  <PresentationFormat>Widescreen</PresentationFormat>
  <Paragraphs>68</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Courier New</vt:lpstr>
      <vt:lpstr>Gill Sans MT</vt:lpstr>
      <vt:lpstr>Nunito</vt:lpstr>
      <vt:lpstr>Parcel</vt:lpstr>
      <vt:lpstr>Feature Engineering Using Snowflake</vt:lpstr>
      <vt:lpstr>What is Feature Engineering?</vt:lpstr>
      <vt:lpstr>Importance of Feature Engineering</vt:lpstr>
      <vt:lpstr>Feature Engineering techniques</vt:lpstr>
      <vt:lpstr>Feature Creation</vt:lpstr>
      <vt:lpstr>Feature Transformation</vt:lpstr>
      <vt:lpstr>Feature Extraction</vt:lpstr>
      <vt:lpstr>Feature Selection</vt:lpstr>
      <vt:lpstr>Feature Scaling</vt:lpstr>
      <vt:lpstr>STORING DATA in Snowflake</vt:lpstr>
      <vt:lpstr>SQL with Snowflake</vt:lpstr>
      <vt:lpstr>ML Pipelines in Snowflake</vt:lpstr>
      <vt:lpstr>Feature Store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Arushi Mallick</dc:creator>
  <cp:lastModifiedBy>Arushi Mallick</cp:lastModifiedBy>
  <cp:revision>10</cp:revision>
  <dcterms:created xsi:type="dcterms:W3CDTF">2025-12-04T14:03:47Z</dcterms:created>
  <dcterms:modified xsi:type="dcterms:W3CDTF">2025-12-06T16:54:46Z</dcterms:modified>
</cp:coreProperties>
</file>